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Social Media User</c:v>
                </c:pt>
              </c:strCache>
            </c:strRef>
          </c:tx>
          <c:spPr>
            <a:solidFill>
              <a:srgbClr val="C084FC"/>
            </a:solidFill>
            <a:ln w="25400" cap="flat">
              <a:solidFill>
                <a:srgbClr val="C084FC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C084FC"/>
              </a:solidFill>
              <a:ln w="9525" cap="flat">
                <a:solidFill>
                  <a:srgbClr val="C084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Openness</c:v>
                  </c:pt>
                  <c:pt idx="1">
                    <c:v>Conscientiousness</c:v>
                  </c:pt>
                  <c:pt idx="2">
                    <c:v>Extraversion</c:v>
                  </c:pt>
                  <c:pt idx="3">
                    <c:v>Agreeableness</c:v>
                  </c:pt>
                  <c:pt idx="4">
                    <c:v>Neuroticism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</c:v>
                </c:pt>
                <c:pt idx="1">
                  <c:v>55</c:v>
                </c:pt>
                <c:pt idx="2">
                  <c:v>80</c:v>
                </c:pt>
                <c:pt idx="3">
                  <c:v>68</c:v>
                </c:pt>
                <c:pt idx="4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72C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1A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Text Posts</c:v>
                </c:pt>
              </c:strCache>
            </c:strRef>
          </c:tx>
          <c:spPr>
            <a:solidFill>
              <a:srgbClr val="C084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Openness</c:v>
                  </c:pt>
                  <c:pt idx="1">
                    <c:v>Conscientiousness</c:v>
                  </c:pt>
                  <c:pt idx="2">
                    <c:v>Extraversion</c:v>
                  </c:pt>
                  <c:pt idx="3">
                    <c:v>Agreeableness</c:v>
                  </c:pt>
                  <c:pt idx="4">
                    <c:v>Neuroticism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62</c:v>
                </c:pt>
                <c:pt idx="2">
                  <c:v>85</c:v>
                </c:pt>
                <c:pt idx="3">
                  <c:v>71</c:v>
                </c:pt>
                <c:pt idx="4">
                  <c:v>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Likes &amp; Reactions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Openness</c:v>
                  </c:pt>
                  <c:pt idx="1">
                    <c:v>Conscientiousness</c:v>
                  </c:pt>
                  <c:pt idx="2">
                    <c:v>Extraversion</c:v>
                  </c:pt>
                  <c:pt idx="3">
                    <c:v>Agreeableness</c:v>
                  </c:pt>
                  <c:pt idx="4">
                    <c:v>Neuroticism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65</c:v>
                </c:pt>
                <c:pt idx="1">
                  <c:v>55</c:v>
                </c:pt>
                <c:pt idx="2">
                  <c:v>72</c:v>
                </c:pt>
                <c:pt idx="3">
                  <c:v>60</c:v>
                </c:pt>
                <c:pt idx="4">
                  <c:v>58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Network Graph</c:v>
                </c:pt>
              </c:strCache>
            </c:strRef>
          </c:tx>
          <c:spPr>
            <a:solidFill>
              <a:srgbClr val="F472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Openness</c:v>
                  </c:pt>
                  <c:pt idx="1">
                    <c:v>Conscientiousness</c:v>
                  </c:pt>
                  <c:pt idx="2">
                    <c:v>Extraversion</c:v>
                  </c:pt>
                  <c:pt idx="3">
                    <c:v>Agreeableness</c:v>
                  </c:pt>
                  <c:pt idx="4">
                    <c:v>Neuroticism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58</c:v>
                </c:pt>
                <c:pt idx="1">
                  <c:v>48</c:v>
                </c:pt>
                <c:pt idx="2">
                  <c:v>80</c:v>
                </c:pt>
                <c:pt idx="3">
                  <c:v>55</c:v>
                </c:pt>
                <c:pt idx="4">
                  <c:v>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72C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2A2A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3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1A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4114800" cy="4114800"/>
          </a:xfrm>
          <a:prstGeom prst="ellipse">
            <a:avLst/>
          </a:prstGeom>
          <a:solidFill>
            <a:srgbClr val="3D1A78">
              <a:alpha val="40000"/>
            </a:srgbClr>
          </a:solidFill>
          <a:ln w="12700">
            <a:solidFill>
              <a:srgbClr val="3D1A7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560320"/>
            <a:ext cx="3200400" cy="3200400"/>
          </a:xfrm>
          <a:prstGeom prst="ellipse">
            <a:avLst/>
          </a:prstGeom>
          <a:solidFill>
            <a:srgbClr val="6C3FC9">
              <a:alpha val="30000"/>
            </a:srgbClr>
          </a:solidFill>
          <a:ln w="12700">
            <a:solidFill>
              <a:srgbClr val="6C3FC9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7132320" y="731520"/>
            <a:ext cx="1463040" cy="1463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188720"/>
            <a:ext cx="54864" cy="274320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14300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PROFILING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85800" y="18288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SOCIAL MEDIA DATA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685800" y="2560320"/>
            <a:ext cx="2926080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670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Analytics  |  Academic Presentation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3154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[Your Name]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" y="3493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/ Course Name  |  2025–26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3D1A78"/>
          </a:solidFill>
          <a:ln w="12700">
            <a:solidFill>
              <a:srgbClr val="3D1A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3200400"/>
            <a:ext cx="2743200" cy="2743200"/>
          </a:xfrm>
          <a:prstGeom prst="ellipse">
            <a:avLst/>
          </a:prstGeom>
          <a:solidFill>
            <a:srgbClr val="6C3FC9">
              <a:alpha val="40000"/>
            </a:srgbClr>
          </a:solidFill>
          <a:ln w="12700">
            <a:solidFill>
              <a:srgbClr val="6C3FC9">
                <a:alpha val="4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8229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1828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82880" y="24231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mind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digital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566160" y="658368"/>
            <a:ext cx="594360" cy="594360"/>
          </a:xfrm>
          <a:prstGeom prst="ellipse">
            <a:avLst/>
          </a:prstGeom>
          <a:solidFill>
            <a:srgbClr val="6C3FC9"/>
          </a:solidFill>
          <a:ln w="12700">
            <a:solidFill>
              <a:srgbClr val="6C3FC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704088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51960" y="5943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Psychological Profiling?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251960" y="9601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inferring personality traits, emotions, and behavioral patterns from digital data left by individuals online.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251960" y="1847088"/>
            <a:ext cx="4572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566160" y="2121408"/>
            <a:ext cx="594360" cy="5943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167128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51960" y="20574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as a Behavioral Mirror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251960" y="24231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post, like, share, and comment reveals something about our psychology — social media is the world's largest behavioral dataset.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251960" y="3310128"/>
            <a:ext cx="4572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566160" y="3584448"/>
            <a:ext cx="594360" cy="59436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3630168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251960" y="35204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in SMA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251960" y="38862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marketers, researchers, and platforms to predict behavior, personalize experiences, and detect mental health signals at scale.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6C3FC9">
              <a:alpha val="20000"/>
            </a:srgbClr>
          </a:solidFill>
          <a:ln w="12700">
            <a:solidFill>
              <a:srgbClr val="6C3FC9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PSYCHOLOGICAL PROFILING?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685800"/>
          </a:xfrm>
          <a:prstGeom prst="rect">
            <a:avLst/>
          </a:prstGeom>
          <a:solidFill>
            <a:srgbClr val="3D1A78">
              <a:alpha val="7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9611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systematic analysis of digital behavior and language patterns to infer psychological characteristics including personality, emotions, attitudes, and intent."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2651760" cy="3200400"/>
          </a:xfrm>
          <a:prstGeom prst="rect">
            <a:avLst/>
          </a:prstGeom>
          <a:solidFill>
            <a:srgbClr val="1A1A35"/>
          </a:solidFill>
          <a:ln w="12700">
            <a:solidFill>
              <a:srgbClr val="6C3FC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37360"/>
            <a:ext cx="2651760" cy="411480"/>
          </a:xfrm>
          <a:prstGeom prst="rect">
            <a:avLst/>
          </a:prstGeom>
          <a:solidFill>
            <a:srgbClr val="6C3FC9"/>
          </a:solidFill>
          <a:ln w="12700">
            <a:solidFill>
              <a:srgbClr val="6C3F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37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Footprints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style &amp; vocabulary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frequency &amp; timing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themes &amp; topics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 and language tone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737360"/>
            <a:ext cx="2651760" cy="3200400"/>
          </a:xfrm>
          <a:prstGeom prst="rect">
            <a:avLst/>
          </a:prstGeom>
          <a:solidFill>
            <a:srgbClr val="1A1A35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737360"/>
            <a:ext cx="2651760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737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Signals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240280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patterns (likes/shares)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&amp; unfollows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sentiment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engagement rate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737360"/>
            <a:ext cx="2651760" cy="3200400"/>
          </a:xfrm>
          <a:prstGeom prst="rect">
            <a:avLst/>
          </a:prstGeom>
          <a:solidFill>
            <a:srgbClr val="1A1A35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737360"/>
            <a:ext cx="2651760" cy="4114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737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Patterns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2240280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users interact with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clustering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relationships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presence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122B"/>
          </a:solidFill>
          <a:ln w="12700">
            <a:solidFill>
              <a:srgbClr val="1212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FOR PSYCHOLOGICAL PROFILING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2011680" cy="1371600"/>
          </a:xfrm>
          <a:prstGeom prst="ellipse">
            <a:avLst/>
          </a:prstGeom>
          <a:solidFill>
            <a:srgbClr val="3D1A78"/>
          </a:solidFill>
          <a:ln w="25400">
            <a:solidFill>
              <a:srgbClr val="C084F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566160" y="192024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673352"/>
            <a:ext cx="1463040" cy="612648"/>
          </a:xfrm>
          <a:prstGeom prst="line">
            <a:avLst/>
          </a:prstGeom>
          <a:noFill/>
          <a:ln w="15240">
            <a:solidFill>
              <a:srgbClr val="6C3FC9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28600" y="1051560"/>
            <a:ext cx="1371600" cy="822960"/>
          </a:xfrm>
          <a:prstGeom prst="rect">
            <a:avLst/>
          </a:prstGeom>
          <a:solidFill>
            <a:srgbClr val="6C3FC9">
              <a:alpha val="85000"/>
            </a:srgbClr>
          </a:solidFill>
          <a:ln w="12700">
            <a:solidFill>
              <a:srgbClr val="6C3FC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216152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1124712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&amp;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103120" y="3456432"/>
            <a:ext cx="1463040" cy="-530352"/>
          </a:xfrm>
          <a:prstGeom prst="line">
            <a:avLst/>
          </a:prstGeom>
          <a:noFill/>
          <a:ln w="15240">
            <a:solidFill>
              <a:srgbClr val="06B6D4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228600" y="2834640"/>
            <a:ext cx="1371600" cy="822960"/>
          </a:xfrm>
          <a:prstGeom prst="rect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299923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5800" y="2907792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&amp;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349240" y="1444752"/>
            <a:ext cx="-685800" cy="521208"/>
          </a:xfrm>
          <a:prstGeom prst="line">
            <a:avLst/>
          </a:prstGeom>
          <a:noFill/>
          <a:ln w="15240">
            <a:solidFill>
              <a:srgbClr val="F472B6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3474720" y="822960"/>
            <a:ext cx="1371600" cy="822960"/>
          </a:xfrm>
          <a:prstGeom prst="rect">
            <a:avLst/>
          </a:prstGeom>
          <a:solidFill>
            <a:srgbClr val="F472B6">
              <a:alpha val="85000"/>
            </a:srgbClr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98755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931920" y="896112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&amp;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903720" y="1444752"/>
            <a:ext cx="-1325880" cy="658368"/>
          </a:xfrm>
          <a:prstGeom prst="line">
            <a:avLst/>
          </a:prstGeom>
          <a:noFill/>
          <a:ln w="15240">
            <a:solidFill>
              <a:srgbClr val="FBBF24"/>
            </a:solidFill>
            <a:prstDash val="dash"/>
          </a:ln>
        </p:spPr>
      </p:sp>
      <p:sp>
        <p:nvSpPr>
          <p:cNvPr id="20" name="Shape 15"/>
          <p:cNvSpPr/>
          <p:nvPr/>
        </p:nvSpPr>
        <p:spPr>
          <a:xfrm>
            <a:off x="6217920" y="822960"/>
            <a:ext cx="1371600" cy="822960"/>
          </a:xfrm>
          <a:prstGeom prst="rect">
            <a:avLst/>
          </a:prstGeom>
          <a:solidFill>
            <a:srgbClr val="FBBF24">
              <a:alpha val="85000"/>
            </a:srgbClr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98755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75120" y="896112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Data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6903720" y="3456432"/>
            <a:ext cx="-1325880" cy="-438912"/>
          </a:xfrm>
          <a:prstGeom prst="line">
            <a:avLst/>
          </a:prstGeom>
          <a:noFill/>
          <a:ln w="15240">
            <a:solidFill>
              <a:srgbClr val="7C3AED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6217920" y="2834640"/>
            <a:ext cx="1371600" cy="822960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2999232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675120" y="2907792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5349240" y="4553712"/>
            <a:ext cx="-685800" cy="-1261872"/>
          </a:xfrm>
          <a:prstGeom prst="line">
            <a:avLst/>
          </a:prstGeom>
          <a:noFill/>
          <a:ln w="15240">
            <a:solidFill>
              <a:srgbClr val="EC4899"/>
            </a:solidFill>
            <a:prstDash val="dash"/>
          </a:ln>
        </p:spPr>
      </p:sp>
      <p:sp>
        <p:nvSpPr>
          <p:cNvPr id="28" name="Shape 21"/>
          <p:cNvSpPr/>
          <p:nvPr/>
        </p:nvSpPr>
        <p:spPr>
          <a:xfrm>
            <a:off x="3474720" y="3931920"/>
            <a:ext cx="1371600" cy="822960"/>
          </a:xfrm>
          <a:prstGeom prst="rect">
            <a:avLst/>
          </a:prstGeom>
          <a:solidFill>
            <a:srgbClr val="EC4899">
              <a:alpha val="85000"/>
            </a:srgbClr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4448" y="4096512"/>
            <a:ext cx="292608" cy="29260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931920" y="4005072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&amp;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MODELS USED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822960"/>
          <a:ext cx="41148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572000" y="804672"/>
            <a:ext cx="4297680" cy="1280160"/>
          </a:xfrm>
          <a:prstGeom prst="rect">
            <a:avLst/>
          </a:prstGeom>
          <a:solidFill>
            <a:srgbClr val="1A1A35"/>
          </a:solidFill>
          <a:ln w="12700">
            <a:solidFill>
              <a:srgbClr val="6C3FC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0" y="804672"/>
            <a:ext cx="73152" cy="1280160"/>
          </a:xfrm>
          <a:prstGeom prst="rect">
            <a:avLst/>
          </a:prstGeom>
          <a:solidFill>
            <a:srgbClr val="6C3FC9"/>
          </a:solidFill>
          <a:ln w="12700">
            <a:solidFill>
              <a:srgbClr val="6C3FC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09160" y="877824"/>
            <a:ext cx="1051560" cy="228600"/>
          </a:xfrm>
          <a:prstGeom prst="rect">
            <a:avLst/>
          </a:prstGeom>
          <a:solidFill>
            <a:srgbClr val="6C3FC9">
              <a:alpha val="30000"/>
            </a:srgbClr>
          </a:solidFill>
          <a:ln w="6350">
            <a:solidFill>
              <a:srgbClr val="6C3F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09160" y="87782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C3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Framework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70916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Five / OCEAN Model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709160" y="14630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Openness · Conscientiousness · Extraversion · Agreeableness · Neuroticism. Each trait is inferred from language patterns and behavioral signals.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0" y="2221992"/>
            <a:ext cx="4297680" cy="1280160"/>
          </a:xfrm>
          <a:prstGeom prst="rect">
            <a:avLst/>
          </a:prstGeom>
          <a:solidFill>
            <a:srgbClr val="1A1A35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221992"/>
            <a:ext cx="73152" cy="1280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2295144"/>
            <a:ext cx="1051560" cy="228600"/>
          </a:xfrm>
          <a:prstGeom prst="rect">
            <a:avLst/>
          </a:prstGeom>
          <a:solidFill>
            <a:srgbClr val="06B6D4">
              <a:alpha val="3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229514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Method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709160" y="2560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&amp; Emotion Analysis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709160" y="2880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emotional tone of posts as positive, negative, or neutral. Advanced models detect 27+ discrete emotions (Cowen &amp; Keltner, 2017).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0" y="3639312"/>
            <a:ext cx="4297680" cy="1280160"/>
          </a:xfrm>
          <a:prstGeom prst="rect">
            <a:avLst/>
          </a:prstGeom>
          <a:solidFill>
            <a:srgbClr val="1A1A35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0" y="3639312"/>
            <a:ext cx="73152" cy="1280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9160" y="3712464"/>
            <a:ext cx="1051560" cy="228600"/>
          </a:xfrm>
          <a:prstGeom prst="rect">
            <a:avLst/>
          </a:prstGeom>
          <a:solidFill>
            <a:srgbClr val="F472B6">
              <a:alpha val="30000"/>
            </a:srgbClr>
          </a:solidFill>
          <a:ln w="6350">
            <a:solidFill>
              <a:srgbClr val="F472B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09160" y="371246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709160" y="3977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Analytics Models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709160" y="4297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future behavior from historical patterns. Uses engagement history, content preferences, and interaction graphs as input features.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274320" y="4663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Trait Distribution — Sample Social Media Cohort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D1A78"/>
          </a:solidFill>
          <a:ln w="12700">
            <a:solidFill>
              <a:srgbClr val="3D1A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&amp; TECHNIQUES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17320"/>
            <a:ext cx="548640" cy="548640"/>
          </a:xfrm>
          <a:prstGeom prst="ellipse">
            <a:avLst/>
          </a:prstGeom>
          <a:solidFill>
            <a:srgbClr val="6C3FC9"/>
          </a:solidFill>
          <a:ln w="12700">
            <a:solidFill>
              <a:srgbClr val="6C3F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07899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1051560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(NLP)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78992" y="1472184"/>
            <a:ext cx="32186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&amp; part-of-speech tagging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 (NER)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LIWC (Linguistic Inquiry &amp; Word Count)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models: BERT, GPT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9601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417320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07899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13832" y="1051560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513832" y="1472184"/>
            <a:ext cx="32186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forests for trait classification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neural networks for image analysis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 for accuracy gains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on pre-trained models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74320" y="29718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11480" y="3429000"/>
            <a:ext cx="548640" cy="54864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1148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090672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78992" y="3063240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&amp; Text Analysis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078992" y="3483864"/>
            <a:ext cx="32186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Lexicon-based sentiment scoring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Aspect-level sentiment detection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detection (joy, fear, anger)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modeling (LDA, NMF)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09160" y="297180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46320" y="3429000"/>
            <a:ext cx="548640" cy="5486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84632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090672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13832" y="3063240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Network Analysis (SNA)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513832" y="3483864"/>
            <a:ext cx="32186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Centrality &amp; influence mapping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detection algorithms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Homophily analysis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network evolution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3200400" cy="3200400"/>
          </a:xfrm>
          <a:prstGeom prst="ellipse">
            <a:avLst/>
          </a:prstGeom>
          <a:solidFill>
            <a:srgbClr val="3D1A78">
              <a:alpha val="20000"/>
            </a:srgbClr>
          </a:solidFill>
          <a:ln w="12700">
            <a:solidFill>
              <a:srgbClr val="3D1A7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psychological profiling from social media is used today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206240" cy="1691640"/>
          </a:xfrm>
          <a:prstGeom prst="rect">
            <a:avLst/>
          </a:prstGeom>
          <a:solidFill>
            <a:srgbClr val="1A1A35"/>
          </a:solidFill>
          <a:ln w="12700">
            <a:solidFill>
              <a:srgbClr val="6C3FC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2801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252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Advertising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51560" y="1618488"/>
            <a:ext cx="777240" cy="256032"/>
          </a:xfrm>
          <a:prstGeom prst="rect">
            <a:avLst/>
          </a:prstGeom>
          <a:solidFill>
            <a:srgbClr val="6C3FC9">
              <a:alpha val="70000"/>
            </a:srgbClr>
          </a:solidFill>
          <a:ln w="6350">
            <a:solidFill>
              <a:srgbClr val="6C3FC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16184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C3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874520" y="16367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CTR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38912" y="1947672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Personality-matched ads show 73% higher click-through rates. Facebook's ad system uses 52,000+ behavioral attributes for targeting.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09160" y="1143000"/>
            <a:ext cx="4206240" cy="1691640"/>
          </a:xfrm>
          <a:prstGeom prst="rect">
            <a:avLst/>
          </a:prstGeom>
          <a:solidFill>
            <a:srgbClr val="1A1A35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28016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1252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0" y="1618488"/>
            <a:ext cx="777240" cy="256032"/>
          </a:xfrm>
          <a:prstGeom prst="rect">
            <a:avLst/>
          </a:prstGeom>
          <a:solidFill>
            <a:srgbClr val="06B6D4">
              <a:alpha val="7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86400" y="16184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6309360" y="16367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Amazon revenue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873752" y="1947672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of Amazon's revenue comes from recommendation engines powered by behavioral profiling. Netflix saves $1B/year via personalization.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74320" y="3017520"/>
            <a:ext cx="4206240" cy="1691640"/>
          </a:xfrm>
          <a:prstGeom prst="rect">
            <a:avLst/>
          </a:prstGeom>
          <a:solidFill>
            <a:srgbClr val="1A1A35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15468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51560" y="3127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Campaigns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1051560" y="3493008"/>
            <a:ext cx="777240" cy="256032"/>
          </a:xfrm>
          <a:prstGeom prst="rect">
            <a:avLst/>
          </a:prstGeom>
          <a:solidFill>
            <a:srgbClr val="F472B6">
              <a:alpha val="70000"/>
            </a:srgbClr>
          </a:solidFill>
          <a:ln w="6350">
            <a:solidFill>
              <a:srgbClr val="F472B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051560" y="34930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50M+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1874520" y="35112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used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438912" y="3822192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Analytica used 50M+ Facebook profiles to micro-target voters in 2016 US Presidential Election and Brexit campaign.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4709160" y="3017520"/>
            <a:ext cx="4206240" cy="1691640"/>
          </a:xfrm>
          <a:prstGeom prst="rect">
            <a:avLst/>
          </a:prstGeom>
          <a:solidFill>
            <a:srgbClr val="1A1A35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154680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86400" y="3127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Insights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5486400" y="3493008"/>
            <a:ext cx="777240" cy="256032"/>
          </a:xfrm>
          <a:prstGeom prst="rect">
            <a:avLst/>
          </a:prstGeom>
          <a:solidFill>
            <a:srgbClr val="FBBF24">
              <a:alpha val="70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486400" y="34930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6309360" y="35112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4873752" y="3822192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detect depression signals from Twitter posts with ~70% accuracy, enabling early intervention and public health monitoring.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122B"/>
          </a:solidFill>
          <a:ln w="12700">
            <a:solidFill>
              <a:srgbClr val="1212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0" y="155448"/>
            <a:ext cx="2011680" cy="43891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1554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ANALYTICA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221992" y="1508760"/>
            <a:ext cx="228600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76272" y="14173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192024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6C3FC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1920240" cy="502920"/>
          </a:xfrm>
          <a:prstGeom prst="rect">
            <a:avLst/>
          </a:prstGeom>
          <a:solidFill>
            <a:srgbClr val="6C3FC9"/>
          </a:solidFill>
          <a:ln w="12700">
            <a:solidFill>
              <a:srgbClr val="6C3F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60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Harvest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1508760"/>
            <a:ext cx="1737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Aleksandr Kogan's 'thisisyourdigitallife' quiz app collected data from 270,000 users — plus their Facebook friends' data without consent.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98264" y="1508760"/>
            <a:ext cx="228600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2544" y="14173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450592" y="960120"/>
            <a:ext cx="192024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50592" y="960120"/>
            <a:ext cx="192024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50592" y="960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Profile Building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42032" y="1508760"/>
            <a:ext cx="1737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Analytica used OCEAN model to infer personality traits from Facebook likes. Just 68 likes predicted skin color (95% accuracy).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74536" y="1508760"/>
            <a:ext cx="228600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28816" y="14173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626864" y="960120"/>
            <a:ext cx="192024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960120"/>
            <a:ext cx="1920240" cy="5029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960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Micro-targeting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18304" y="1508760"/>
            <a:ext cx="1737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50M+ voter profiles created. Highly personalised political ads served based on individual psychological vulnerabilities and trait profiles.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03136" y="960120"/>
            <a:ext cx="192024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03136" y="960120"/>
            <a:ext cx="192024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3136" y="960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Outcome &amp; Fallout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94576" y="1508760"/>
            <a:ext cx="1737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Implicated in 2016 US Election &amp; Brexit. Facebook fined $5B by FTC. Cambridge Analytica shut down 2018. GDPR strengthened globally.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79145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10 Facebook likes = more accurate personality prediction than a work colleague. 300 likes = better than a spouse. (Youyou et al., 2015)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3D1A78">
              <a:alpha val="15000"/>
            </a:srgbClr>
          </a:solidFill>
          <a:ln w="12700">
            <a:solidFill>
              <a:srgbClr val="3D1A7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LIMITATIONS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321040" cy="896112"/>
          </a:xfrm>
          <a:prstGeom prst="rect">
            <a:avLst/>
          </a:prstGeom>
          <a:solidFill>
            <a:srgbClr val="1A1A35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640080" cy="89611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11556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9601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Accuracy Issues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600200" y="1307592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self-presentation is curated and aspirational, not authentic. Users perform identities, skewing personality inference models.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1874520"/>
            <a:ext cx="8321040" cy="896112"/>
          </a:xfrm>
          <a:prstGeom prst="rect">
            <a:avLst/>
          </a:prstGeom>
          <a:solidFill>
            <a:srgbClr val="1A1A35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1874520"/>
            <a:ext cx="640080" cy="89611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1874520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12140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19659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Bias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600200" y="2313432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reflects historical inequalities. Models perform worse for minority groups, women, and non-Western cultures (Buolamwini &amp; Gebru, 2018).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5760" y="2880360"/>
            <a:ext cx="8321040" cy="896112"/>
          </a:xfrm>
          <a:prstGeom prst="rect">
            <a:avLst/>
          </a:prstGeom>
          <a:solidFill>
            <a:srgbClr val="1A1A35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2880360"/>
            <a:ext cx="640080" cy="8961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65760" y="2880360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127248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29718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Concerns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600200" y="3319272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without consent violates autonomy. Potential for discriminatory use in insurance, hiring, law enforcement, and political manipulation.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65760" y="3886200"/>
            <a:ext cx="8321040" cy="896112"/>
          </a:xfrm>
          <a:prstGeom prst="rect">
            <a:avLst/>
          </a:prstGeom>
          <a:solidFill>
            <a:srgbClr val="1A1A35"/>
          </a:solidFill>
          <a:ln w="12700">
            <a:solidFill>
              <a:srgbClr val="6C3FC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65760" y="3886200"/>
            <a:ext cx="640080" cy="896112"/>
          </a:xfrm>
          <a:prstGeom prst="rect">
            <a:avLst/>
          </a:prstGeom>
          <a:solidFill>
            <a:srgbClr val="6C3FC9"/>
          </a:solidFill>
          <a:ln w="12700">
            <a:solidFill>
              <a:srgbClr val="6C3FC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65760" y="3886200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4133088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00200" y="39776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Restrictions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1600200" y="4325112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(EU), CCPA (California), and platform API restrictions limit data access. Apple ATT framework reduced trackable behavior by ~30–40%.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122B"/>
          </a:solidFill>
          <a:ln w="12700">
            <a:solidFill>
              <a:srgbClr val="1212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&amp; PRIVACY CONCERNS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188720"/>
            <a:ext cx="548640" cy="548640"/>
          </a:xfrm>
          <a:prstGeom prst="ellipse">
            <a:avLst/>
          </a:prstGeom>
          <a:solidFill>
            <a:srgbClr val="6C3FC9">
              <a:alpha val="80000"/>
            </a:srgbClr>
          </a:solidFill>
          <a:ln w="12700">
            <a:solidFill>
              <a:srgbClr val="6C3FC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207008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06984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Consent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" y="1801368"/>
            <a:ext cx="234086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8745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rarely know their data is used for psychological profiling. Consent buried in T&amp;Cs is ethically insufficient.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0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01568" y="1188720"/>
            <a:ext cx="548640" cy="548640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1207008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69080" y="106984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Risk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401568" y="1801368"/>
            <a:ext cx="234086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337560" y="18745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 and corporations can use profiling for social control, dissent suppression, and political manipulation.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126480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27648" y="1188720"/>
            <a:ext cx="548640" cy="548640"/>
          </a:xfrm>
          <a:prstGeom prst="ellipse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207008"/>
            <a:ext cx="512064" cy="5120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95160" y="106984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AI Use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327648" y="1801368"/>
            <a:ext cx="234086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263640" y="18745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decisions affecting people's lives require transparency, explainability, and human oversight (EU AI Act, 2024).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274320" y="29260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5488" y="3154680"/>
            <a:ext cx="548640" cy="548640"/>
          </a:xfrm>
          <a:prstGeom prst="ellipse">
            <a:avLst/>
          </a:prstGeom>
          <a:solidFill>
            <a:srgbClr val="FBBF24">
              <a:alpha val="80000"/>
            </a:srgbClr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3172968"/>
            <a:ext cx="512064" cy="51206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43000" y="303580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Minimisation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75488" y="3767328"/>
            <a:ext cx="234086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11480" y="384048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Article 5 requires collecting only necessary data. Profiling systems must justify each data point collected.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200400" y="29260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401568" y="3154680"/>
            <a:ext cx="548640" cy="548640"/>
          </a:xfrm>
          <a:prstGeom prst="ellipse">
            <a:avLst/>
          </a:prstGeom>
          <a:solidFill>
            <a:srgbClr val="F472B6">
              <a:alpha val="80000"/>
            </a:srgbClr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56" y="3172968"/>
            <a:ext cx="512064" cy="51206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069080" y="303580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Erasure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3401568" y="3767328"/>
            <a:ext cx="234086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3337560" y="384048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have the right to have their data deleted. Profiling models trained on that data must be retrained.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6126480" y="292608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327648" y="3154680"/>
            <a:ext cx="548640" cy="548640"/>
          </a:xfrm>
          <a:prstGeom prst="ellipse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3172968"/>
            <a:ext cx="512064" cy="51206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995160" y="303580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&amp; Equity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6327648" y="3767328"/>
            <a:ext cx="2340864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6263640" y="384048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must be audited for disparate impact across race, gender, age, and nationality to ensure equitable outcomes.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TRENDS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frontier of psychological profiling from digital 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321040" cy="1170432"/>
          </a:xfrm>
          <a:prstGeom prst="rect">
            <a:avLst/>
          </a:prstGeom>
          <a:solidFill>
            <a:srgbClr val="1A1A35"/>
          </a:solidFill>
          <a:ln w="12700">
            <a:solidFill>
              <a:srgbClr val="6C3FC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99032"/>
            <a:ext cx="594360" cy="594360"/>
          </a:xfrm>
          <a:prstGeom prst="ellipse">
            <a:avLst/>
          </a:prstGeom>
          <a:solidFill>
            <a:srgbClr val="6C3FC9"/>
          </a:solidFill>
          <a:ln w="12700">
            <a:solidFill>
              <a:srgbClr val="6C3F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990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1499616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0" y="1188720"/>
            <a:ext cx="1234440" cy="274320"/>
          </a:xfrm>
          <a:prstGeom prst="rect">
            <a:avLst/>
          </a:prstGeom>
          <a:solidFill>
            <a:srgbClr val="6C3FC9">
              <a:alpha val="25000"/>
            </a:srgbClr>
          </a:solidFill>
          <a:ln w="6350">
            <a:solidFill>
              <a:srgbClr val="6C3FC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0" y="11887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C3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627632" y="11887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Behavioral Analytics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627632" y="1572768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(LLMs) like GPT-4 analyze writing style to infer personality with unprecedented accuracy. Multimodal AI combines text, image, and video signals.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2395728"/>
            <a:ext cx="8321040" cy="1170432"/>
          </a:xfrm>
          <a:prstGeom prst="rect">
            <a:avLst/>
          </a:prstGeom>
          <a:solidFill>
            <a:srgbClr val="1A1A35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697480"/>
            <a:ext cx="594360" cy="5943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2798064"/>
            <a:ext cx="365760" cy="3657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315200" y="2487168"/>
            <a:ext cx="1234440" cy="274320"/>
          </a:xfrm>
          <a:prstGeom prst="rect">
            <a:avLst/>
          </a:prstGeom>
          <a:solidFill>
            <a:srgbClr val="06B6D4">
              <a:alpha val="2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315200" y="24871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→ 2028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627632" y="248716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Predictive Modeling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627632" y="2871216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propensity scoring — predicting mental health crises, purchasing decisions, or voting behavior before they happen. Digital twin psychological models.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65760" y="3694176"/>
            <a:ext cx="8321040" cy="1170432"/>
          </a:xfrm>
          <a:prstGeom prst="rect">
            <a:avLst/>
          </a:prstGeom>
          <a:solidFill>
            <a:srgbClr val="1A1A35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57200" y="3995928"/>
            <a:ext cx="594360" cy="59436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7200" y="39959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096512"/>
            <a:ext cx="365760" cy="36576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7315200" y="3785616"/>
            <a:ext cx="1234440" cy="274320"/>
          </a:xfrm>
          <a:prstGeom prst="rect">
            <a:avLst/>
          </a:prstGeom>
          <a:solidFill>
            <a:srgbClr val="FBBF24">
              <a:alpha val="25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315200" y="37856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→ 2030+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1627632" y="378561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Integration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1627632" y="4169664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of social media, IoT, biometric, and financial data for holistic psychological profiles. Privacy-preserving federated learning enables analysis without raw data transfer.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Prediction Accuracy from Social Media Behavioral Indicators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3035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005840"/>
            <a:ext cx="3017520" cy="804672"/>
          </a:xfrm>
          <a:prstGeom prst="rect">
            <a:avLst/>
          </a:prstGeom>
          <a:solidFill>
            <a:srgbClr val="1A1A35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1005840"/>
            <a:ext cx="54864" cy="80467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89320" y="10607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989320" y="1463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accuracy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059168" y="1115568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Extraversion via posting frequency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852160" y="1965960"/>
            <a:ext cx="3017520" cy="804672"/>
          </a:xfrm>
          <a:prstGeom prst="rect">
            <a:avLst/>
          </a:prstGeom>
          <a:solidFill>
            <a:srgbClr val="1A1A35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1965960"/>
            <a:ext cx="54864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20208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98932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 likes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059168" y="2075688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to predict race with 95% accuracy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926080"/>
            <a:ext cx="3017520" cy="804672"/>
          </a:xfrm>
          <a:prstGeom prst="rect">
            <a:avLst/>
          </a:prstGeom>
          <a:solidFill>
            <a:srgbClr val="1A1A35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52160" y="2926080"/>
            <a:ext cx="54864" cy="80467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29809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989320" y="3383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059168" y="3035808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traditional psychometric surveys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852160" y="3886200"/>
            <a:ext cx="3017520" cy="804672"/>
          </a:xfrm>
          <a:prstGeom prst="rect">
            <a:avLst/>
          </a:prstGeom>
          <a:solidFill>
            <a:srgbClr val="1A1A35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52160" y="3886200"/>
            <a:ext cx="54864" cy="8046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89320" y="394106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2.7B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5989320" y="4343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059168" y="3995928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profileable on Facebook alone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D1A78"/>
          </a:solidFill>
          <a:ln w="12700">
            <a:solidFill>
              <a:srgbClr val="3D1A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743200" cy="502920"/>
          </a:xfrm>
          <a:prstGeom prst="rect">
            <a:avLst/>
          </a:prstGeom>
          <a:solidFill>
            <a:srgbClr val="6C3FC9"/>
          </a:solidFill>
          <a:ln w="12700">
            <a:solidFill>
              <a:srgbClr val="6C3FC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98755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978408"/>
            <a:ext cx="2057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Psychological Profiling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1572768"/>
            <a:ext cx="2423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data enables personality prediction with accuracy exceeding many self-report surveys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footprints are persistent, scalable, and continuously updated unlike static assessments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model provides a validated scientific framework linking traits to measurable digital behaviors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960120"/>
            <a:ext cx="274320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960120"/>
            <a:ext cx="274320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98755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67328" y="978408"/>
            <a:ext cx="2057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Marketing &amp; Analytics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383280" y="1572768"/>
            <a:ext cx="2423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Personality-matched advertising yields significantly higher engagement and conversion rates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Psychographic segmentation enables precise audience targeting beyond demographics alone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prediction models are core to recommendation systems worth billions in revenue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26480" y="960120"/>
            <a:ext cx="274320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960120"/>
            <a:ext cx="2743200" cy="5029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98755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93408" y="978408"/>
            <a:ext cx="2057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Responsibilities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309360" y="1572768"/>
            <a:ext cx="2423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without consent is unethical and increasingly illegal under GDPR and similar legislation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bias can perpetuate discrimination against protected groups at massive scale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Practitioners must adopt privacy-by-design principles and ensure human oversight of AI decisions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029200" cy="5029200"/>
          </a:xfrm>
          <a:prstGeom prst="ellipse">
            <a:avLst/>
          </a:prstGeom>
          <a:solidFill>
            <a:srgbClr val="3D1A78">
              <a:alpha val="18000"/>
            </a:srgbClr>
          </a:solidFill>
          <a:ln w="12700">
            <a:solidFill>
              <a:srgbClr val="3D1A7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6C3FC9">
              <a:alpha val="15000"/>
            </a:srgbClr>
          </a:solidFill>
          <a:ln w="12700">
            <a:solidFill>
              <a:srgbClr val="6C3FC9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40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5029200" cy="36576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88720"/>
            <a:ext cx="274320" cy="27432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33856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has transformed psychological profiling from laboratory science to real-time, population-scale analysis of human personality and behavior.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029968"/>
            <a:ext cx="274320" cy="27432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75104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convergence of NLP, machine learning, and the OCEAN model creates powerful tools for predicting behavior — but these tools carry profound ethical responsibilities.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871216"/>
            <a:ext cx="274320" cy="27432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81635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Cambridge Analytica case demonstrated the catastrophic potential of unchecked profiling — leading to landmark privacy legislation including GDPR and CCPA.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712464"/>
            <a:ext cx="274320" cy="27432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6576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advances in AI and big data integration will further amplify both the opportunities and risks of psychological profiling from digital behavior.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617720"/>
            <a:ext cx="8229600" cy="384048"/>
          </a:xfrm>
          <a:prstGeom prst="rect">
            <a:avLst/>
          </a:prstGeom>
          <a:solidFill>
            <a:srgbClr val="C084FC">
              <a:alpha val="18000"/>
            </a:srgbClr>
          </a:solidFill>
          <a:ln w="12700">
            <a:solidFill>
              <a:srgbClr val="C084FC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6360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"With great data comes great responsibility — the line between insight and intrusion defines the ethics of our digital age."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2122B"/>
          </a:solidFill>
          <a:ln w="12700">
            <a:solidFill>
              <a:srgbClr val="1212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6459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120700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M. Kosinski, D. Stillwell, T. Graepel, "Private traits and attributes are predictable from digital records of human behavior," PNAS, vol. 110, no. 15, pp. 5802–5805, 2013.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15361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W. Youyou, M. Kosinski, D. Stillwell, "Computer-based personality judgments are more accurate than those made by humans," PNAS, vol. 112, no. 4, pp. 1036–1040, 2015.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186537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T. Quercia, M. Kosinski, D. Stillwell, J. Crowcroft, "Our Twitter Profiles, Our Selves: Predicting Personality with Twitter," IEEE Privacy, Security, Risk and Trust, 2011.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65760" y="22677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Reports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25603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Cambridge Analytica whistleblower testimony, UK Digital, Culture, Media and Sport Committee, 2018.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02920" y="288950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S. Buolamwini, T. Gebru, "Gender Shades: Intersectional Accuracy Disparities in Commercial Gender Classification," FAT* Conference Proceedings, 2018.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Texts &amp; Legislation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358444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D. J. Lazer et al., "Computational Social Science," Science, vol. 323, pp. 721–723, 2009.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02920" y="391363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European Parliament, "General Data Protection Regulation (GDPR)," EU 2016/679, Official Journal of the EU, 2016.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2920" y="424281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A. Cowen, D. Keltner, "Self-report captures 27 distinct categories of emotion," PNAS, vol. 114, no. 38, 2017.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Psychological Profiling from Social Media Data</dc:title>
  <dc:subject>PptxGenJS Presentation</dc:subject>
  <dc:creator>PptxGenJS</dc:creator>
  <cp:lastModifiedBy>PptxGenJS</cp:lastModifiedBy>
  <cp:revision>1</cp:revision>
  <dcterms:created xsi:type="dcterms:W3CDTF">2026-04-20T09:25:32Z</dcterms:created>
  <dcterms:modified xsi:type="dcterms:W3CDTF">2026-04-20T09:25:32Z</dcterms:modified>
</cp:coreProperties>
</file>